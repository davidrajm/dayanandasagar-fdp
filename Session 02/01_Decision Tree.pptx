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9" r:id="rId5"/>
    <p:sldId id="270" r:id="rId6"/>
    <p:sldId id="272" r:id="rId7"/>
    <p:sldId id="273" r:id="rId8"/>
    <p:sldId id="274" r:id="rId9"/>
    <p:sldId id="275" r:id="rId10"/>
    <p:sldId id="271" r:id="rId11"/>
    <p:sldId id="265" r:id="rId12"/>
    <p:sldId id="276" r:id="rId13"/>
    <p:sldId id="259" r:id="rId14"/>
    <p:sldId id="260" r:id="rId15"/>
    <p:sldId id="277" r:id="rId16"/>
    <p:sldId id="278" r:id="rId17"/>
    <p:sldId id="279" r:id="rId18"/>
    <p:sldId id="261" r:id="rId19"/>
    <p:sldId id="262" r:id="rId20"/>
    <p:sldId id="263" r:id="rId21"/>
    <p:sldId id="264" r:id="rId22"/>
    <p:sldId id="266" r:id="rId23"/>
    <p:sldId id="267" r:id="rId24"/>
    <p:sldId id="26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82690"/>
  </p:normalViewPr>
  <p:slideViewPr>
    <p:cSldViewPr snapToGrid="0">
      <p:cViewPr>
        <p:scale>
          <a:sx n="71" d="100"/>
          <a:sy n="71" d="100"/>
        </p:scale>
        <p:origin x="1912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3AECA-97DE-A641-BAE2-A09F26BA0763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73280F-BA23-7042-B9B7-C9475AEEE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90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not because of the literal message in the answer (either yes or no). Rather, it is because of the way that the answer to each question splits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character cards into different sets based on the value of the descriptive feature the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</a:p>
          <a:p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tion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asked about (MAN, LONG HAIR or GLASSES) and the likelihood of each possible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 to the question.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3280F-BA23-7042-B9B7-C9475AEEE15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40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E0D87-C7B5-FA1D-E53F-ED32FF0F2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621D7-EFA9-0F58-DE54-83796E96C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04FAFC-3036-027A-2F3E-06868A868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not because of the literal message in the answer (either yes or no). Rather, it is because of the way that the answer to each question splits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character cards into different sets based on the value of the descriptive feature the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</a:p>
          <a:p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tion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asked about (MAN, LONG HAIR or GLASSES) and the likelihood of each possible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 to the question.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A275E-EDC6-90A8-6E8D-0E35B66AB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3280F-BA23-7042-B9B7-C9475AEEE15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25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were to randomly select a card from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set shown in Figure(a) , you would have zero uncertainty, as you would know for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sure that you would select an ace of spades. So, this set has zero entropy. 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Suppose if you were to randomly select an element from the set in Figure (f) , you would be very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uncertain about any prediction as there are 12 possible outcomes, each of which is equally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likely. This is why this set has very high entropy.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3280F-BA23-7042-B9B7-C9475AEEE15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77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C7CA7-6BD9-A6EE-3F0D-2A887C4A7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83391"/>
            <a:ext cx="9144000" cy="102657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347AC-9F59-5308-4883-303E17AFB4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81376"/>
            <a:ext cx="9144000" cy="64723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Dr. David Raj M</a:t>
            </a:r>
          </a:p>
          <a:p>
            <a:r>
              <a:rPr lang="en-GB" dirty="0"/>
              <a:t>Assistant Professor &amp; Assistant Director, RAAC</a:t>
            </a:r>
          </a:p>
          <a:p>
            <a:r>
              <a:rPr lang="en-GB" dirty="0"/>
              <a:t>School of Advanced Sciences</a:t>
            </a:r>
          </a:p>
          <a:p>
            <a:r>
              <a:rPr lang="en-GB" dirty="0"/>
              <a:t>Vellore Institute of Technology, Chennai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58D4D-F78B-01D2-FE73-6E4BAEF4C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4D1C-3F25-7141-914F-F2BFB4CDD3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5E2F0-358A-3D65-B72B-23E1ADA19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690ED-9BE7-1F7D-A091-8AE53A0D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3F022-6F4D-1948-B31B-DF7D3C08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82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36ADB-BE19-5AED-6DFB-F1609B8FB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6F26C-853B-8075-E6EB-9B9CD2967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8C80D-3CB4-13B7-B29D-46A45C729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4D1C-3F25-7141-914F-F2BFB4CDD3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8E0FB-6D3D-3908-5BAE-EDB7CF1E9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7F5FC-6593-6E51-D551-48D4A6C22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3F022-6F4D-1948-B31B-DF7D3C08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448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1517E-7712-C6F6-E734-F3ED4EB8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4C5EF-3415-FF3F-3400-64F06BFE6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84105-2D2F-4D68-1DDC-67C9F1D0A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4D1C-3F25-7141-914F-F2BFB4CDD3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F2E81-1806-E594-FEEF-75DAA3A6F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1F783-97DB-E647-2A8A-51338A23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3F022-6F4D-1948-B31B-DF7D3C08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4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BBF45-2BB8-9669-0F61-84EEED36D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5552A-80FE-5CD6-7782-0F47BDAB04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0DB1A-0093-A29A-C13D-E6F65070B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7281E-7E38-8F51-81D5-6770876EE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4D1C-3F25-7141-914F-F2BFB4CDD3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1014D-3169-AFF4-AC7E-7EE5AD7A3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BE0D2-008B-9B55-9674-D43BC08DB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3F022-6F4D-1948-B31B-DF7D3C08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957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29634-0517-95DC-1C18-548B9AB2D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A9846-5690-FABB-A07E-EF5794E64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CCCF5-6E2B-71B8-9342-7DCFEA5B0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C66132-6337-F256-7638-50F10ED3A6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36898A-0C0A-F5C8-45A8-673B1C64DE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C542A4-4ECE-C32A-46F1-46B88F088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4D1C-3F25-7141-914F-F2BFB4CDD3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DC3866-AC06-183D-FE3B-684AFB1CB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66049-0E37-D897-95F6-9456428E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3F022-6F4D-1948-B31B-DF7D3C08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10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D75BD-0509-C373-545D-5625FE34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8811C2-2C00-7D48-8EE8-F1D4C2497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4D1C-3F25-7141-914F-F2BFB4CDD3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C59E0A-0A24-9505-1386-3CBB76CC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4AC93A-FE18-84CC-0470-4F56F3EA6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3F022-6F4D-1948-B31B-DF7D3C08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991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E7330A-FCCC-617B-7080-44C296C35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4D1C-3F25-7141-914F-F2BFB4CDD3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D884C6-7B52-C39A-2825-BBA225599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3B63E-C1A3-2CD1-F6D0-BCCA23B66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3F022-6F4D-1948-B31B-DF7D3C08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68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53B41-CACB-0580-9E34-E293E43FA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B8BF4-B168-7EC6-7CA8-13952BCDC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43729-011E-9DD4-771B-0BD353976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27B61-E237-5DB7-0392-964D140D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4D1C-3F25-7141-914F-F2BFB4CDD3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4CFD1-0765-A71A-228D-42E2A0EE0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D71188-19FE-55E4-D270-208DCBE91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3F022-6F4D-1948-B31B-DF7D3C08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362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B9CE8-18AC-7C1C-C30B-80470617E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9D456F-D12D-0BCE-6329-4F1121013D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2E7ECD-B86A-9735-03B2-8B4E61216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27F6F-BF0B-694A-48EB-81AF5543D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4D1C-3F25-7141-914F-F2BFB4CDD3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FA997-8551-E7A8-4937-87E7CADBC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4020A-F4C0-AE6E-9318-169632B2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3F022-6F4D-1948-B31B-DF7D3C08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20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B0414-B757-D54F-A24B-74A9049AE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5F313-355C-489A-DF86-F19976C9F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CEA9E-966A-40F4-2783-D8D5CA414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4D1C-3F25-7141-914F-F2BFB4CDD3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A625C-4479-5A15-AD6C-B83AF3218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37822-CDB2-BB92-A4A1-68F44FC43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3F022-6F4D-1948-B31B-DF7D3C08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765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BF2929-FAFE-CAF6-986E-8495BEF197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EDBF5-2927-61F7-8667-3E85D538C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EE44D-141E-F28B-C84C-9C87A1AE1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4D1C-3F25-7141-914F-F2BFB4CDD3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FF3B3-0367-B3FE-1559-7B079DBE2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CA833-D2DC-BE06-9633-0F86D6C96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3F022-6F4D-1948-B31B-DF7D3C08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476FE5-30FB-E5FF-3EAB-BA03DEDF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30" y="261171"/>
            <a:ext cx="10515600" cy="839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0D9E0-D605-468F-60CE-1121EA177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6530" y="14275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AF464-2E90-8328-1D6B-24E1A0CE4A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6530" y="637644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564D1C-3F25-7141-914F-F2BFB4CDD3B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1C818-9D36-C25B-2D04-9EE50538E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401" y="637644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C8151-4A30-477F-4381-2BB5976FB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19390" y="63764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3F022-6F4D-1948-B31B-DF7D3C08E414}" type="slidenum">
              <a:rPr lang="en-US" smtClean="0"/>
              <a:pPr/>
              <a:t>‹#›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42050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B469A-84CA-5755-7B97-D313C26B9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33" y="3008857"/>
            <a:ext cx="7048328" cy="1026571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Decision Trees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D73473-9CF6-242E-4C2B-FA51C17BE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33" y="4509065"/>
            <a:ext cx="7048328" cy="1962224"/>
          </a:xfrm>
        </p:spPr>
        <p:txBody>
          <a:bodyPr>
            <a:normAutofit/>
          </a:bodyPr>
          <a:lstStyle/>
          <a:p>
            <a:pPr algn="l"/>
            <a:r>
              <a:rPr lang="en-GB" b="1" dirty="0"/>
              <a:t>Dr. David Raj M</a:t>
            </a:r>
          </a:p>
          <a:p>
            <a:pPr algn="l"/>
            <a:r>
              <a:rPr lang="en-GB" dirty="0"/>
              <a:t>Assistant Professor &amp; Assistant Director, RAAC</a:t>
            </a:r>
          </a:p>
          <a:p>
            <a:pPr algn="l"/>
            <a:r>
              <a:rPr lang="en-GB" dirty="0"/>
              <a:t>School of Advanced Sciences</a:t>
            </a:r>
          </a:p>
          <a:p>
            <a:pPr algn="l"/>
            <a:r>
              <a:rPr lang="en-GB" dirty="0"/>
              <a:t>Vellore Institute of Technology, Chennai</a:t>
            </a:r>
            <a:endParaRPr lang="en-US" dirty="0"/>
          </a:p>
          <a:p>
            <a:pPr algn="l"/>
            <a:endParaRPr lang="en-US" dirty="0"/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E0F32584-D715-933D-F0A8-E53CAE2A3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33" y="527538"/>
            <a:ext cx="3287948" cy="10265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1285E3-D06F-3EA2-2CA4-1B067CC38E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294"/>
          <a:stretch>
            <a:fillRect/>
          </a:stretch>
        </p:blipFill>
        <p:spPr>
          <a:xfrm>
            <a:off x="7447172" y="2373837"/>
            <a:ext cx="4121495" cy="320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285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147DD-194E-7DF5-D5E2-6ADD30B46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Why Decision Trees?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6E9A2-01DC-2FAB-F283-25B4F23D8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Interpretability First</a:t>
            </a:r>
            <a:r>
              <a:rPr lang="en-IN" dirty="0"/>
              <a:t>: Unlike black-box models (e.g., deep neural nets), trees show exact decision paths/rules for every prediction – crucial for healthcare/finance where "why?" matters</a:t>
            </a:r>
          </a:p>
          <a:p>
            <a:r>
              <a:rPr lang="en-IN" b="1" dirty="0"/>
              <a:t>No Data Prep Hassle: </a:t>
            </a:r>
            <a:r>
              <a:rPr lang="en-IN" dirty="0"/>
              <a:t>Handles categorical/numerical/missing data without scaling/normalization; nonlinear relationships naturally</a:t>
            </a:r>
          </a:p>
          <a:p>
            <a:r>
              <a:rPr lang="en-IN" b="1" dirty="0"/>
              <a:t>Visual &amp; Stakeholder-Friendly: </a:t>
            </a:r>
            <a:r>
              <a:rPr lang="en-IN" dirty="0" err="1"/>
              <a:t>lowchart</a:t>
            </a:r>
            <a:r>
              <a:rPr lang="en-IN" dirty="0"/>
              <a:t>-like trees explain to non-experts; feature importance ranks what drives decisions</a:t>
            </a:r>
          </a:p>
          <a:p>
            <a:r>
              <a:rPr lang="en-IN" b="1" dirty="0"/>
              <a:t>Fast &amp; Intuitive:</a:t>
            </a:r>
            <a:r>
              <a:rPr lang="en-US" b="1" dirty="0"/>
              <a:t> </a:t>
            </a:r>
            <a:r>
              <a:rPr lang="en-IN" dirty="0"/>
              <a:t>Quick training, human-like if-then reasoning; baseline for ensembles (Random Forest fixes weaknesses)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02738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43C38-F98D-0820-93AB-0E2B3C299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Decision Trees Basics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6255B4-8269-01F8-5011-FC1BC79E31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320" y="1427163"/>
            <a:ext cx="6922581" cy="43513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F963B9-4E9F-529B-1E27-D2D86EF2522F}"/>
              </a:ext>
            </a:extLst>
          </p:cNvPr>
          <p:cNvSpPr txBox="1"/>
          <p:nvPr/>
        </p:nvSpPr>
        <p:spPr>
          <a:xfrm>
            <a:off x="6957049" y="1079500"/>
            <a:ext cx="46253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0" u="none" strike="noStrike" dirty="0">
                <a:solidFill>
                  <a:srgbClr val="4D4D4C"/>
                </a:solidFill>
                <a:effectLst/>
                <a:latin typeface="berkeleyMono"/>
              </a:rPr>
              <a:t>root → decisions → leaves</a:t>
            </a:r>
            <a:endParaRPr lang="en-US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062D23-5AA0-4D95-6729-0D36119DE9AD}"/>
              </a:ext>
            </a:extLst>
          </p:cNvPr>
          <p:cNvSpPr txBox="1"/>
          <p:nvPr/>
        </p:nvSpPr>
        <p:spPr>
          <a:xfrm>
            <a:off x="7906375" y="2787223"/>
            <a:ext cx="367602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0" i="0" u="none" strike="noStrike" dirty="0">
                <a:solidFill>
                  <a:srgbClr val="4D4D4C"/>
                </a:solidFill>
                <a:effectLst/>
                <a:latin typeface="berkeleyMono"/>
              </a:rPr>
              <a:t>Root node: First rule splits data;</a:t>
            </a:r>
          </a:p>
          <a:p>
            <a:endParaRPr lang="en-IN" sz="2000" dirty="0">
              <a:solidFill>
                <a:srgbClr val="4D4D4C"/>
              </a:solidFill>
              <a:latin typeface="berkeleyMono"/>
            </a:endParaRPr>
          </a:p>
          <a:p>
            <a:r>
              <a:rPr lang="en-IN" sz="2000" b="0" i="0" u="none" strike="noStrike" dirty="0">
                <a:solidFill>
                  <a:srgbClr val="4D4D4C"/>
                </a:solidFill>
                <a:effectLst/>
                <a:latin typeface="berkeleyMono"/>
              </a:rPr>
              <a:t> decision nodes guide via rules;</a:t>
            </a:r>
          </a:p>
          <a:p>
            <a:endParaRPr lang="en-IN" sz="2000" dirty="0">
              <a:solidFill>
                <a:srgbClr val="4D4D4C"/>
              </a:solidFill>
              <a:latin typeface="berkeleyMono"/>
            </a:endParaRPr>
          </a:p>
          <a:p>
            <a:r>
              <a:rPr lang="en-IN" sz="2000" b="0" i="0" u="none" strike="noStrike" dirty="0">
                <a:solidFill>
                  <a:srgbClr val="4D4D4C"/>
                </a:solidFill>
                <a:effectLst/>
                <a:latin typeface="berkeleyMono"/>
              </a:rPr>
              <a:t> leaf nodes give final class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18939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78411-EACD-ACE8-7D51-B3BED7391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Guess Who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3B07C-5006-9B62-869D-69E8D4452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107" y="5647765"/>
            <a:ext cx="10515600" cy="37321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IN" dirty="0"/>
              <a:t>Cards showing character faces and names for the Guess Who game.</a:t>
            </a:r>
          </a:p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35EB12-A262-6854-4E80-C5307E0C4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411" y="2312702"/>
            <a:ext cx="7772400" cy="223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097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7E862-D033-9B55-1DE8-1D73F9B81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32E41-3251-A353-2754-96F195747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7F6C9C-57C2-C0D8-111A-95152C277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73" y="2506755"/>
            <a:ext cx="8526556" cy="31367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2C467A-DEB1-C75E-1DFD-345A83199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769" y="502908"/>
            <a:ext cx="4635218" cy="133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922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3DE30-FFEE-8C4E-AD48-F78436F5D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4C76A-6FBC-83E4-317B-5C1D7F170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30" y="2019263"/>
            <a:ext cx="10515600" cy="4351338"/>
          </a:xfrm>
        </p:spPr>
        <p:txBody>
          <a:bodyPr/>
          <a:lstStyle/>
          <a:p>
            <a:r>
              <a:rPr lang="en-IN" dirty="0"/>
              <a:t>Now, imagine that we have picked one of these cards and you have to guess which one by asking questions. Which of the following questions would you ask first?</a:t>
            </a:r>
          </a:p>
          <a:p>
            <a:pPr marL="0" indent="0">
              <a:buNone/>
            </a:pPr>
            <a:r>
              <a:rPr lang="en-IN" dirty="0"/>
              <a:t>	1. Is it a man?</a:t>
            </a:r>
          </a:p>
          <a:p>
            <a:pPr marL="0" indent="0">
              <a:buNone/>
            </a:pPr>
            <a:r>
              <a:rPr lang="en-IN" dirty="0"/>
              <a:t>	2. Does the person wear glasses?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67F3A8-3D8B-B837-B503-CCCC02556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335" y="261171"/>
            <a:ext cx="4635218" cy="133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63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598F85-5324-6F00-8DBC-4486A4129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295" y="787622"/>
            <a:ext cx="8364070" cy="50812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FA9C87-996B-6F81-9D4E-E02A74F5A33C}"/>
              </a:ext>
            </a:extLst>
          </p:cNvPr>
          <p:cNvSpPr txBox="1"/>
          <p:nvPr/>
        </p:nvSpPr>
        <p:spPr>
          <a:xfrm>
            <a:off x="510989" y="243170"/>
            <a:ext cx="116810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rgbClr val="000000"/>
                </a:solidFill>
                <a:effectLst/>
                <a:latin typeface="Helvetica" pitchFamily="2" charset="0"/>
              </a:rPr>
              <a:t>The different question sequences that can follow in a game of Guess Who beginning with the question</a:t>
            </a:r>
          </a:p>
          <a:p>
            <a:pPr>
              <a:buNone/>
            </a:pPr>
            <a:r>
              <a:rPr lang="en-IN" dirty="0">
                <a:solidFill>
                  <a:srgbClr val="000000"/>
                </a:solidFill>
                <a:effectLst/>
                <a:latin typeface="Helvetica" pitchFamily="2" charset="0"/>
              </a:rPr>
              <a:t>Does the person wear glasses?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7AAC32A1-75C0-6288-6E7F-8716B46F641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805605" y="5958801"/>
            <a:ext cx="2378160" cy="627840"/>
          </a:xfrm>
          <a:prstGeom prst="rect">
            <a:avLst/>
          </a:prstGeom>
          <a:ln w="0">
            <a:noFill/>
          </a:ln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240B71BC-FF08-5CC0-9ADD-A1E3A53A15F1}"/>
              </a:ext>
            </a:extLst>
          </p:cNvPr>
          <p:cNvSpPr/>
          <p:nvPr/>
        </p:nvSpPr>
        <p:spPr>
          <a:xfrm>
            <a:off x="1075765" y="6080121"/>
            <a:ext cx="67294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292934"/>
                </a:solidFill>
                <a:latin typeface="Arial"/>
              </a:rPr>
              <a:t>The average number of questions you have to ask per game is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3732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FDB52-1026-01F1-F0FA-FD792BE36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CFE9A-3083-20A6-87C9-6BA83F3C2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2210" y="1709980"/>
            <a:ext cx="6309286" cy="4749372"/>
          </a:xfrm>
        </p:spPr>
        <p:txBody>
          <a:bodyPr/>
          <a:lstStyle/>
          <a:p>
            <a:r>
              <a:rPr lang="en-IN" dirty="0"/>
              <a:t>No matter what question you ask, the answer is always</a:t>
            </a:r>
          </a:p>
          <a:p>
            <a:r>
              <a:rPr lang="en-IN" dirty="0"/>
              <a:t>either </a:t>
            </a:r>
            <a:r>
              <a:rPr lang="en-IN" b="1" dirty="0"/>
              <a:t>yes</a:t>
            </a:r>
            <a:r>
              <a:rPr lang="en-IN" dirty="0"/>
              <a:t> or </a:t>
            </a:r>
            <a:r>
              <a:rPr lang="en-IN" b="1" dirty="0"/>
              <a:t>no</a:t>
            </a:r>
            <a:r>
              <a:rPr lang="en-IN" dirty="0"/>
              <a:t>, but, on average, an answer to Question 1 seems to carry more information</a:t>
            </a:r>
          </a:p>
          <a:p>
            <a:r>
              <a:rPr lang="en-IN" dirty="0"/>
              <a:t>than an answer to Question 2.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83A7C4-FD28-3BDF-4D5C-D2D3F33BD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26" y="681036"/>
            <a:ext cx="5439684" cy="5217459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56AAECCA-4A44-CA31-4296-E4F523569D3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902446" y="5983464"/>
            <a:ext cx="1972080" cy="694080"/>
          </a:xfrm>
          <a:prstGeom prst="rect">
            <a:avLst/>
          </a:prstGeom>
          <a:ln w="0">
            <a:noFill/>
          </a:ln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3A21C880-9909-7889-26B8-0CEC716D806B}"/>
              </a:ext>
            </a:extLst>
          </p:cNvPr>
          <p:cNvSpPr/>
          <p:nvPr/>
        </p:nvSpPr>
        <p:spPr>
          <a:xfrm>
            <a:off x="342526" y="5994984"/>
            <a:ext cx="67294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292934"/>
                </a:solidFill>
                <a:latin typeface="Arial"/>
              </a:rPr>
              <a:t>The average number of questions you have to ask per game is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6538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A4503-04E4-C901-A318-96B913271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8E336-C9B0-107F-0B41-D6C8F6C4D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56879-94B1-DA3D-C6A1-8BECB38DF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2210" y="1709980"/>
            <a:ext cx="6309286" cy="4749372"/>
          </a:xfrm>
        </p:spPr>
        <p:txBody>
          <a:bodyPr/>
          <a:lstStyle/>
          <a:p>
            <a:r>
              <a:rPr lang="en-IN" dirty="0"/>
              <a:t>An answer to Question 1, Is it a man?, splits the game domain into two sets of equal size</a:t>
            </a:r>
          </a:p>
          <a:p>
            <a:r>
              <a:rPr lang="en-IN" dirty="0"/>
              <a:t>One of these sets contains the solution, which leaves you with just one more question to ask to finish the game.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4CD52A-6966-3FBB-AC97-2A489B4FB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26" y="681036"/>
            <a:ext cx="5439684" cy="521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817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CA21A-0FE7-7944-CBEB-A213A7387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BE8CB-EB28-C2AB-8DC9-9D177F909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So, the big idea here is to figure out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which features are the most informative</a:t>
            </a:r>
            <a:r>
              <a:rPr lang="en-US" dirty="0"/>
              <a:t> ones to</a:t>
            </a:r>
          </a:p>
          <a:p>
            <a:pPr marL="0" indent="0">
              <a:buNone/>
            </a:pPr>
            <a:r>
              <a:rPr lang="en-US" dirty="0"/>
              <a:t>ask questions about by considering the effects of the different answers to the questions,</a:t>
            </a:r>
          </a:p>
          <a:p>
            <a:pPr marL="0" indent="0">
              <a:buNone/>
            </a:pPr>
            <a:r>
              <a:rPr lang="en-US" dirty="0"/>
              <a:t>in terms of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how the domain is split up </a:t>
            </a:r>
            <a:r>
              <a:rPr lang="en-US" dirty="0"/>
              <a:t>after the answer is received and the likelihood of each of the answers.</a:t>
            </a:r>
          </a:p>
        </p:txBody>
      </p:sp>
    </p:spTree>
    <p:extLst>
      <p:ext uri="{BB962C8B-B14F-4D97-AF65-F5344CB8AC3E}">
        <p14:creationId xmlns:p14="http://schemas.microsoft.com/office/powerpoint/2010/main" val="2537409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96020-8099-9ED3-D6F7-FA9D9E847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7A495-B511-975B-7B36-CAB864AB5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following data 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08F61F-3803-DBCE-5248-A2B0101BB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646" y="2425743"/>
            <a:ext cx="9910483" cy="383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282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468F0-1F30-E614-AF81-486CF4610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F0A71-FBFE-7EBB-33BD-DF0321BD4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517768-D7CC-74BB-6F3C-EF6243939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30" y="1212290"/>
            <a:ext cx="105811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813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CC688-35B3-86EE-5421-27BD4CA01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AD002-A733-0565-9018-47844BD21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Handles nonlinear relationships (unlike linear/logistic regression)</a:t>
            </a:r>
          </a:p>
          <a:p>
            <a:r>
              <a:rPr lang="en-US" dirty="0"/>
              <a:t>Structure: Iterative decisions like human reasoning, easy for non-technical users </a:t>
            </a:r>
          </a:p>
        </p:txBody>
      </p:sp>
    </p:spTree>
    <p:extLst>
      <p:ext uri="{BB962C8B-B14F-4D97-AF65-F5344CB8AC3E}">
        <p14:creationId xmlns:p14="http://schemas.microsoft.com/office/powerpoint/2010/main" val="1749484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07212-8E57-CF7C-9B5F-08A2DE9F3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Entropy &amp; Impurity Measures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5D8FF-646E-18D2-751C-26ED904B2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Entropy:</a:t>
            </a:r>
            <a:r>
              <a:rPr lang="en-IN" dirty="0"/>
              <a:t> Measure of Disorder/uncertainty</a:t>
            </a:r>
          </a:p>
          <a:p>
            <a:pPr marL="0" indent="0" algn="ctr">
              <a:buNone/>
            </a:pPr>
            <a:r>
              <a:rPr lang="en-IN" dirty="0"/>
              <a:t>0 (pure) to 1 (max impure, e.g., equal classes)</a:t>
            </a:r>
          </a:p>
          <a:p>
            <a:r>
              <a:rPr lang="en-IN" dirty="0"/>
              <a:t>For example, </a:t>
            </a:r>
          </a:p>
          <a:p>
            <a:pPr lvl="1"/>
            <a:r>
              <a:rPr lang="en-IN" dirty="0"/>
              <a:t>an entropy value of 0 will be assigned to a dataset if all of the samples in it belong to one class, that is, the dataset is homogenous. </a:t>
            </a:r>
          </a:p>
          <a:p>
            <a:pPr lvl="1"/>
            <a:r>
              <a:rPr lang="en-IN" dirty="0"/>
              <a:t>On the other hand, if the dataset has samples that belong equally to two classes, then the entropy value will be 1 because given a new instance it is equally difficult to say which class it will belong to.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1243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8E40B-9E72-AFB2-AED9-B7F081061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1CD82-1339-60FC-8257-5770682C5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C23B49-F77B-F938-4AFA-D407BD055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870" y="887292"/>
            <a:ext cx="7772400" cy="508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008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D7D26-94D8-1277-93FC-81E773ADF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C7F30-4E0E-A350-99DB-08EAAF6B2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indent="-18288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en-US" spc="-1" dirty="0">
                <a:solidFill>
                  <a:srgbClr val="292934"/>
                </a:solidFill>
                <a:latin typeface="Arial"/>
              </a:rPr>
              <a:t>An outcome with a large probability should map to a low entropy value, and an outcome with a small probability should map to a large entropy value. </a:t>
            </a:r>
          </a:p>
          <a:p>
            <a:pPr marL="182880" indent="-18288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en-US" spc="-1" dirty="0">
                <a:solidFill>
                  <a:srgbClr val="292934"/>
                </a:solidFill>
                <a:latin typeface="Arial"/>
              </a:rPr>
              <a:t>The mathematical logarithm, or log, function does almost exactly the transformation that we need.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F3A838-7EDF-8BB3-79DA-5777D54DE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742" y="3820125"/>
            <a:ext cx="5289176" cy="268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491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4247F-1DF5-81DC-02BB-A779E3D75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C8AE6-870A-8BEC-C713-941D7A149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8CB6E4-85DD-D861-29A0-91B70A836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602" y="2771388"/>
            <a:ext cx="6949467" cy="1540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04E4B6-0F11-086A-1460-F74712AA8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759" y="4739208"/>
            <a:ext cx="11813241" cy="1382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18887C5-12FB-8DC2-B289-EE28FD7B1BEB}"/>
              </a:ext>
            </a:extLst>
          </p:cNvPr>
          <p:cNvSpPr/>
          <p:nvPr/>
        </p:nvSpPr>
        <p:spPr>
          <a:xfrm>
            <a:off x="2904565" y="5593976"/>
            <a:ext cx="9520517" cy="668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877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B5F7B-7823-5631-C934-02A7C20CD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40E38-E548-BD4E-77DE-D24416BDD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Information Gain</a:t>
            </a:r>
            <a:r>
              <a:rPr lang="en-IN" dirty="0"/>
              <a:t>: Information gain increases as entropy decreases and we become more certain about a decision. </a:t>
            </a:r>
          </a:p>
          <a:p>
            <a:r>
              <a:rPr lang="en-IN" dirty="0"/>
              <a:t>Information gain is useful for telling us which attribute in a set of training features is most useful in distinguishing between the classes by quantifying the importance of a given attribute.</a:t>
            </a:r>
          </a:p>
          <a:p>
            <a:r>
              <a:rPr lang="en-IN" dirty="0"/>
              <a:t>It measures how well a given attribute can separate the training set.</a:t>
            </a:r>
          </a:p>
          <a:p>
            <a:pPr marL="0" indent="0" algn="ctr">
              <a:buNone/>
            </a:pPr>
            <a:endParaRPr lang="en-IN" i="1" dirty="0"/>
          </a:p>
          <a:p>
            <a:pPr marL="0" indent="0" algn="ctr">
              <a:buNone/>
            </a:pPr>
            <a:r>
              <a:rPr lang="en-IN" b="1" i="1" dirty="0"/>
              <a:t>Information Gain = Entropy of the full dataset — Entropy of the dataset given a feature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89564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A8889-3440-D04A-EF0D-58B12816B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Gini Index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2F8F65-479C-1105-53D1-9AB2EFB416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Another popular metric to create splits for decision trees is the Gini index (Gini impurity), which is the probability of classifying a feature incorrectly when selected randomly. </a:t>
                </a:r>
              </a:p>
              <a:p>
                <a:r>
                  <a:rPr lang="en-IN" b="1" dirty="0"/>
                  <a:t>Gini Impurity</a:t>
                </a:r>
                <a:r>
                  <a:rPr lang="en-IN" dirty="0"/>
                  <a:t>: Prob. of wrong random classification, </a:t>
                </a:r>
                <a:endParaRPr lang="en-US" baseline="-25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dirty="0"/>
                        <m:t>Gini</m:t>
                      </m:r>
                      <m:r>
                        <m:rPr>
                          <m:nor/>
                        </m:rPr>
                        <a:rPr lang="en-IN" dirty="0"/>
                        <m:t> = 1 −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IN" dirty="0"/>
                  <a:t>We want the attribute with the lowest Gini index, as that would be the attribute that has the least probability of classifying a feature incorrectly.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2F8F65-479C-1105-53D1-9AB2EFB416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1448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1285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D1547-6297-A441-79DE-37497080B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 Steps to Grow 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49342-B1B7-6F3D-C96E-931F6C2EC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entire dataset as the root node.</a:t>
            </a:r>
          </a:p>
          <a:p>
            <a:r>
              <a:rPr lang="en-US" dirty="0"/>
              <a:t>Use either information gain, Gini Index or other metrics to identify the best attribute to split the dataset. This is the new ‘decision node’</a:t>
            </a:r>
          </a:p>
          <a:p>
            <a:r>
              <a:rPr lang="en-US" dirty="0"/>
              <a:t>Divide the dataset into the subsets based on the possible values of the selected attribute (in Step 2)</a:t>
            </a:r>
          </a:p>
          <a:p>
            <a:r>
              <a:rPr lang="en-US" dirty="0"/>
              <a:t>Repeat the above steps for all the subsets created until all the subsets of the data belong to the same class or splitting the dataset further isn’t possible.</a:t>
            </a:r>
          </a:p>
        </p:txBody>
      </p:sp>
    </p:spTree>
    <p:extLst>
      <p:ext uri="{BB962C8B-B14F-4D97-AF65-F5344CB8AC3E}">
        <p14:creationId xmlns:p14="http://schemas.microsoft.com/office/powerpoint/2010/main" val="1230893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1A47A-85C5-6C0A-50F2-7D797B1E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9D8F3-450D-8A60-4B24-F82ADFBEF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Interpreting decision trees is straightforward.</a:t>
            </a:r>
          </a:p>
          <a:p>
            <a:r>
              <a:rPr lang="en-US" dirty="0"/>
              <a:t>Starting from the root node, the decision nodes are selected based on some attribute selection criteria (such as information gain or Gini index). </a:t>
            </a:r>
          </a:p>
          <a:p>
            <a:r>
              <a:rPr lang="en-US" dirty="0"/>
              <a:t>Depending on the algorithm, the attribute is selected either to maximize information gain or minimize Gini index.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08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1C950-57F3-0659-2958-7520E38F1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A44C4-6E13-3D6A-C499-E987DE778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738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161B1-C886-DF81-EAA5-B9ACC503B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37ED9-231C-FFF5-2256-EA1CD5672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951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0ECA-E381-17F9-8F3D-90567C0CF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A693F-753A-3C62-31EA-F8FBCA384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321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1122</Words>
  <Application>Microsoft Macintosh PowerPoint</Application>
  <PresentationFormat>Widescreen</PresentationFormat>
  <Paragraphs>84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berkeleyMono</vt:lpstr>
      <vt:lpstr>Cambria Math</vt:lpstr>
      <vt:lpstr>Helvetica</vt:lpstr>
      <vt:lpstr>Office Theme</vt:lpstr>
      <vt:lpstr>Decision Trees</vt:lpstr>
      <vt:lpstr>Why Decision Trees?</vt:lpstr>
      <vt:lpstr>Decision Trees Basics</vt:lpstr>
      <vt:lpstr>Example: Guess Who</vt:lpstr>
      <vt:lpstr>PowerPoint Presentation</vt:lpstr>
      <vt:lpstr>Lets Play</vt:lpstr>
      <vt:lpstr>PowerPoint Presentation</vt:lpstr>
      <vt:lpstr>PowerPoint Presentation</vt:lpstr>
      <vt:lpstr>PowerPoint Presentation</vt:lpstr>
      <vt:lpstr>The Big Idea</vt:lpstr>
      <vt:lpstr>Another Example</vt:lpstr>
      <vt:lpstr>PowerPoint Presentation</vt:lpstr>
      <vt:lpstr>PowerPoint Presentation</vt:lpstr>
      <vt:lpstr>Entropy &amp; Impurity Measures</vt:lpstr>
      <vt:lpstr>PowerPoint Presentation</vt:lpstr>
      <vt:lpstr>PowerPoint Presentation</vt:lpstr>
      <vt:lpstr>PowerPoint Presentation</vt:lpstr>
      <vt:lpstr>PowerPoint Presentation</vt:lpstr>
      <vt:lpstr>Gini Index</vt:lpstr>
      <vt:lpstr>General Steps to Grow Decision Trees</vt:lpstr>
      <vt:lpstr>Interpretation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Raj Micheal</dc:creator>
  <cp:lastModifiedBy>David Raj Micheal</cp:lastModifiedBy>
  <cp:revision>56</cp:revision>
  <dcterms:created xsi:type="dcterms:W3CDTF">2026-02-11T12:12:15Z</dcterms:created>
  <dcterms:modified xsi:type="dcterms:W3CDTF">2026-02-12T02:29:10Z</dcterms:modified>
</cp:coreProperties>
</file>